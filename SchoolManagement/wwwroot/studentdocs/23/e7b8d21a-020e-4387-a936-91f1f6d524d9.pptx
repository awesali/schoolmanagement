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3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88" r:id="rId8"/>
    <p:sldId id="283" r:id="rId9"/>
    <p:sldId id="289" r:id="rId10"/>
    <p:sldId id="284" r:id="rId11"/>
    <p:sldId id="285" r:id="rId1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07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84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44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61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492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43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23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78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29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37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31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69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2324" y="2829726"/>
            <a:ext cx="842264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0590" marR="5080" indent="-897890" algn="ctr">
              <a:spcBef>
                <a:spcPts val="95"/>
              </a:spcBef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FIRE DETECTION IN TUNNEL USING AI</a:t>
            </a: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1836" y="3996989"/>
            <a:ext cx="7103616" cy="2242922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790"/>
              </a:spcBef>
            </a:pPr>
            <a:r>
              <a:rPr sz="2000" b="1" spc="-5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000" b="1" spc="-25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sz="20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594" algn="ctr">
              <a:lnSpc>
                <a:spcPct val="100000"/>
              </a:lnSpc>
              <a:spcBef>
                <a:spcPts val="69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Sakshi Meshram </a:t>
            </a:r>
          </a:p>
          <a:p>
            <a:pPr marL="61594" algn="ctr">
              <a:lnSpc>
                <a:spcPct val="100000"/>
              </a:lnSpc>
              <a:spcBef>
                <a:spcPts val="69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Vaishnavi Jadhav</a:t>
            </a:r>
            <a:endParaRPr lang="en-US" sz="18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594" algn="ctr">
              <a:lnSpc>
                <a:spcPct val="100000"/>
              </a:lnSpc>
              <a:spcBef>
                <a:spcPts val="695"/>
              </a:spcBef>
            </a:pP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Khushi Sahu </a:t>
            </a:r>
          </a:p>
          <a:p>
            <a:pPr marL="61594" algn="ctr">
              <a:lnSpc>
                <a:spcPct val="100000"/>
              </a:lnSpc>
              <a:spcBef>
                <a:spcPts val="695"/>
              </a:spcBef>
            </a:pP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Sharvari Karmarkar </a:t>
            </a:r>
            <a:endParaRPr lang="en-US" sz="18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594" algn="ctr">
              <a:lnSpc>
                <a:spcPct val="100000"/>
              </a:lnSpc>
              <a:spcBef>
                <a:spcPts val="695"/>
              </a:spcBef>
            </a:pP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Sakshi Bobade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06623" y="1918938"/>
            <a:ext cx="294043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400" spc="-5" dirty="0">
                <a:solidFill>
                  <a:schemeClr val="accent5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</a:t>
            </a:r>
            <a:endParaRPr sz="2400" dirty="0">
              <a:solidFill>
                <a:schemeClr val="accent5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10067" y="2236055"/>
            <a:ext cx="378119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4820" marR="5080" indent="-452755" algn="ctr">
              <a:lnSpc>
                <a:spcPct val="100000"/>
              </a:lnSpc>
              <a:spcBef>
                <a:spcPts val="95"/>
              </a:spcBef>
            </a:pPr>
            <a:r>
              <a:rPr lang="en-US" sz="2800" spc="-5" dirty="0">
                <a:solidFill>
                  <a:schemeClr val="accent5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Presentation </a:t>
            </a:r>
            <a:r>
              <a:rPr sz="2800" spc="-5" dirty="0">
                <a:solidFill>
                  <a:schemeClr val="accent5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on</a:t>
            </a:r>
          </a:p>
        </p:txBody>
      </p:sp>
      <p:pic>
        <p:nvPicPr>
          <p:cNvPr id="2056" name="Picture 2" descr="ISTE-Logo-Desig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492" y="130823"/>
            <a:ext cx="75223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1" descr="WANJARI LOGO 1 - Cop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26" y="131019"/>
            <a:ext cx="920450" cy="74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80542" y="221092"/>
            <a:ext cx="914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115387" y="4665940"/>
            <a:ext cx="6172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335065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 Paper ID -</a:t>
            </a: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 Name of Theme – Artificial Intelligence  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350" y="4635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r-IN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Amar Sewa Mandal's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048638" y="238025"/>
            <a:ext cx="676343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162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162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162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162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162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162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162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162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162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62425" algn="l"/>
              </a:tabLst>
            </a:pPr>
            <a:r>
              <a:rPr kumimoji="0" lang="mr-I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       </a:t>
            </a:r>
            <a:r>
              <a:rPr kumimoji="0" lang="mr-I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Govindrao Wanjari </a:t>
            </a:r>
            <a:r>
              <a:rPr kumimoji="0" lang="mr-I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College</a:t>
            </a:r>
            <a:r>
              <a:rPr kumimoji="0" lang="mr-I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of Engineering &amp; Technology, Nagpur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62425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                  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An Autonomous Institute Affiliated to DBATU University,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Lonere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, Raigad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62425" algn="l"/>
              </a:tabLst>
            </a:pPr>
            <a:r>
              <a:rPr kumimoji="0" lang="mr-I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6</a:t>
            </a:r>
            <a:r>
              <a:rPr kumimoji="0" lang="mr-IN" altLang="en-US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th</a:t>
            </a:r>
            <a:r>
              <a:rPr kumimoji="0" lang="mr-I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International Conference on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62425" algn="l"/>
              </a:tabLst>
            </a:pPr>
            <a:r>
              <a:rPr kumimoji="0" lang="mr-I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                     Recent Trends in Science, Engineering &amp; Technology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62425" algn="l"/>
              </a:tabLst>
            </a:pPr>
            <a:r>
              <a:rPr kumimoji="0" lang="mr-I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17</a:t>
            </a:r>
            <a:r>
              <a:rPr kumimoji="0" lang="mr-IN" altLang="en-US" sz="16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th</a:t>
            </a:r>
            <a:r>
              <a:rPr kumimoji="0" lang="mr-I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-18</a:t>
            </a:r>
            <a:r>
              <a:rPr kumimoji="0" lang="mr-IN" altLang="en-US" sz="16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th</a:t>
            </a:r>
            <a:r>
              <a:rPr kumimoji="0" lang="mr-I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March 2026</a:t>
            </a:r>
            <a:endParaRPr kumimoji="0" lang="mr-I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2800" y="970706"/>
            <a:ext cx="8428101" cy="527529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Study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Discussion 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9057" y="6411782"/>
            <a:ext cx="1657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z="1400" b="1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403884"/>
            <a:ext cx="7467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spc="-4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3600" spc="2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2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sz="36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457200"/>
            <a:ext cx="38862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sz="3600" spc="-15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600" spc="-5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</a:t>
            </a:r>
            <a:r>
              <a:rPr sz="3600" spc="-2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600" spc="-5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9057" y="6411782"/>
            <a:ext cx="16573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z="1400" b="1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5381F-BAD0-8809-0F58-E74F3FA65346}"/>
              </a:ext>
            </a:extLst>
          </p:cNvPr>
          <p:cNvSpPr txBox="1"/>
          <p:nvPr/>
        </p:nvSpPr>
        <p:spPr>
          <a:xfrm>
            <a:off x="464692" y="1371600"/>
            <a:ext cx="842010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Tunnel fires cause serious safety risks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detect fire very late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helps detect fire quickly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monitoring improves tunnel safety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false alarms in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lives and tunnel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719057" y="6411782"/>
            <a:ext cx="16573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lang="en-IN" sz="1400" b="1" dirty="0">
                <a:latin typeface="Times New Roman"/>
                <a:cs typeface="Times New Roman"/>
              </a:rPr>
              <a:t>3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83751" y="381000"/>
            <a:ext cx="408495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3600" spc="-10" dirty="0">
                <a:solidFill>
                  <a:schemeClr val="accent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OBJECTIVES</a:t>
            </a:r>
            <a:endParaRPr sz="3600" spc="-55" dirty="0">
              <a:solidFill>
                <a:schemeClr val="accent5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2A3CF-8676-DE02-ADC0-7B6FB2EEA77D}"/>
              </a:ext>
            </a:extLst>
          </p:cNvPr>
          <p:cNvSpPr txBox="1"/>
          <p:nvPr/>
        </p:nvSpPr>
        <p:spPr>
          <a:xfrm>
            <a:off x="381000" y="1219200"/>
            <a:ext cx="8382000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AI based System that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data for fire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tunnels in real time.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fire and smoke early.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tunnel safety using AI.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faster emergency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719057" y="6411782"/>
            <a:ext cx="16573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lang="en-IN" sz="1400" b="1" dirty="0">
                <a:latin typeface="Times New Roman"/>
                <a:cs typeface="Times New Roman"/>
              </a:rPr>
              <a:t>4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47800" y="457200"/>
            <a:ext cx="6705600" cy="510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 algn="ctr"/>
            <a:r>
              <a:rPr lang="en-US" sz="3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FF4238-CEAE-08C0-4A9C-5B1CAEAC1A8C}"/>
              </a:ext>
            </a:extLst>
          </p:cNvPr>
          <p:cNvSpPr txBox="1"/>
          <p:nvPr/>
        </p:nvSpPr>
        <p:spPr>
          <a:xfrm>
            <a:off x="609600" y="1154082"/>
            <a:ext cx="8109457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systems used physical sensors for fire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methods used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motion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models enabled real-time fire localization.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systems reduce false fire alarms.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shows best speed-accuracy performance.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719057" y="6411782"/>
            <a:ext cx="16573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lang="en-IN" sz="1400" b="1" dirty="0">
                <a:latin typeface="Times New Roman"/>
                <a:cs typeface="Times New Roman"/>
              </a:rPr>
              <a:t>5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00" y="392347"/>
            <a:ext cx="6399480" cy="162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STUDY</a:t>
            </a:r>
            <a:br>
              <a:rPr lang="en-US" sz="3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(Existing Methods)</a:t>
            </a:r>
            <a:br>
              <a:rPr lang="en-US" dirty="0"/>
            </a:br>
            <a:endParaRPr spc="-5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70FB7-6D5E-9D1C-A475-F23BCE6878D5}"/>
              </a:ext>
            </a:extLst>
          </p:cNvPr>
          <p:cNvSpPr txBox="1"/>
          <p:nvPr/>
        </p:nvSpPr>
        <p:spPr>
          <a:xfrm>
            <a:off x="358204" y="1748144"/>
            <a:ext cx="8427592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 and heat sensor-based detection systems.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and motion-based vision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Flame flicker analysis using temporal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CNN(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)-based deep learning fire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models like YOLO.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719057" y="6411782"/>
            <a:ext cx="16573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lang="en-IN" sz="1400" b="1" dirty="0">
                <a:latin typeface="Times New Roman"/>
                <a:cs typeface="Times New Roman"/>
              </a:rPr>
              <a:t>6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9996" y="685800"/>
            <a:ext cx="8534399" cy="967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sz="3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br>
              <a:rPr lang="en-US" dirty="0"/>
            </a:br>
            <a:endParaRPr spc="-5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30F79D-AACA-73FC-776B-E9DD46FA26B7}"/>
              </a:ext>
            </a:extLst>
          </p:cNvPr>
          <p:cNvSpPr txBox="1"/>
          <p:nvPr/>
        </p:nvSpPr>
        <p:spPr>
          <a:xfrm>
            <a:off x="609600" y="1484296"/>
            <a:ext cx="8275192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tunnel video data using cameras.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 video frames for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fire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fire using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real-time fire alerts.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quick emergency response</a:t>
            </a:r>
          </a:p>
        </p:txBody>
      </p:sp>
    </p:spTree>
    <p:extLst>
      <p:ext uri="{BB962C8B-B14F-4D97-AF65-F5344CB8AC3E}">
        <p14:creationId xmlns:p14="http://schemas.microsoft.com/office/powerpoint/2010/main" val="276296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3467" y="478909"/>
            <a:ext cx="788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3600" spc="-5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DISCUSSION</a:t>
            </a:r>
            <a:endParaRPr sz="3600" spc="-5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7CBA79F-A266-8053-DDDB-5A1BADC66B37}"/>
              </a:ext>
            </a:extLst>
          </p:cNvPr>
          <p:cNvSpPr txBox="1"/>
          <p:nvPr/>
        </p:nvSpPr>
        <p:spPr>
          <a:xfrm>
            <a:off x="8719057" y="6411782"/>
            <a:ext cx="16573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lang="en-IN" sz="1400" b="1" dirty="0">
                <a:latin typeface="Times New Roman"/>
                <a:cs typeface="Times New Roman"/>
              </a:rPr>
              <a:t>7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157BE7-70C1-0A3F-F681-17112278508E}"/>
              </a:ext>
            </a:extLst>
          </p:cNvPr>
          <p:cNvSpPr txBox="1"/>
          <p:nvPr/>
        </p:nvSpPr>
        <p:spPr>
          <a:xfrm>
            <a:off x="609600" y="1447800"/>
            <a:ext cx="8153400" cy="464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23E38-694E-8C1B-4E72-522C6F3CD910}"/>
              </a:ext>
            </a:extLst>
          </p:cNvPr>
          <p:cNvSpPr txBox="1"/>
          <p:nvPr/>
        </p:nvSpPr>
        <p:spPr>
          <a:xfrm>
            <a:off x="762000" y="1600200"/>
            <a:ext cx="8153400" cy="464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68AFE6-7818-E8F8-FD4B-35B7765AC5D6}"/>
              </a:ext>
            </a:extLst>
          </p:cNvPr>
          <p:cNvSpPr txBox="1"/>
          <p:nvPr/>
        </p:nvSpPr>
        <p:spPr>
          <a:xfrm>
            <a:off x="609600" y="1371600"/>
            <a:ext cx="8305800" cy="495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B97681-B702-41DA-8308-7A25C2D87939}"/>
              </a:ext>
            </a:extLst>
          </p:cNvPr>
          <p:cNvSpPr txBox="1"/>
          <p:nvPr/>
        </p:nvSpPr>
        <p:spPr>
          <a:xfrm>
            <a:off x="609600" y="1219200"/>
            <a:ext cx="8275192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detects fire earlier than traditional systems.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fire detection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fire location in tunnels.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reduces false alarms effectively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increases tunnel safety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00EF-A931-40B4-4DAE-974FF030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7967"/>
            <a:ext cx="7886700" cy="914400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C41DE-77D9-4FB0-1262-650CB6D3A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25" y="1133081"/>
            <a:ext cx="8534400" cy="52702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tunnel fire detection system developed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and smoke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bounding-box localization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tunnel surveillance analysis.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Bounding-box detection helps accurately identify the location of fire in tunnel environments.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under varying lighting conditions.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false alarms with multi-frame filtering.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19DB2911-8AD3-B614-969C-32216FAA3FE1}"/>
              </a:ext>
            </a:extLst>
          </p:cNvPr>
          <p:cNvSpPr txBox="1"/>
          <p:nvPr/>
        </p:nvSpPr>
        <p:spPr>
          <a:xfrm>
            <a:off x="8686800" y="6411782"/>
            <a:ext cx="16573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lang="en-IN" sz="1400" b="1" dirty="0">
                <a:latin typeface="Times New Roman"/>
                <a:cs typeface="Times New Roman"/>
              </a:rPr>
              <a:t>8</a:t>
            </a:r>
            <a:endParaRPr sz="1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0900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0" y="381000"/>
            <a:ext cx="32004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600" spc="-1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5A59A4-5A33-BC1D-B562-F8538B38967D}"/>
              </a:ext>
            </a:extLst>
          </p:cNvPr>
          <p:cNvSpPr txBox="1"/>
          <p:nvPr/>
        </p:nvSpPr>
        <p:spPr>
          <a:xfrm>
            <a:off x="457200" y="1295400"/>
            <a:ext cx="8382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Y. Liu, C. Bo, and C. Feng, "FB-YOLOv8s : A Fire Detection Algorithm Based on YOLOv8s," Cognitive Robotics,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Abdusalomov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Whangbo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"Fire and Smoke Detection Method Using YOLO Deep Learning Models,"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Muhammad, J. Ahmad, and S. W. Baik, "Early Fire Detection Using Convolutional Neural Networks During Surveillance," Neurocomputing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Li, B. Zhao, C. Zhang, and Z. Li, "Vision-Based Fire Detection Using Deep Convolutional Neural Networks,"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Bochkovskiy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Y. Wang, and H. Y. M. Liao, "YOLOv4: Optimal Speed and Accuracy of Object Detection,"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684FEAD-C88B-7836-7521-C1B3A14BE924}"/>
              </a:ext>
            </a:extLst>
          </p:cNvPr>
          <p:cNvSpPr txBox="1"/>
          <p:nvPr/>
        </p:nvSpPr>
        <p:spPr>
          <a:xfrm>
            <a:off x="8719057" y="6411782"/>
            <a:ext cx="16573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lang="en-IN" sz="1400" b="1" dirty="0">
                <a:latin typeface="Times New Roman"/>
                <a:cs typeface="Times New Roman"/>
              </a:rPr>
              <a:t>9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5334000" cy="137217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6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sz="6000" b="1" spc="-5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6000" b="1" spc="-34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5715" algn="ctr">
              <a:lnSpc>
                <a:spcPct val="100000"/>
              </a:lnSpc>
              <a:spcBef>
                <a:spcPts val="240"/>
              </a:spcBef>
            </a:pPr>
            <a:r>
              <a:rPr sz="2000" b="1" i="1" spc="-5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Queries </a:t>
            </a:r>
            <a:r>
              <a:rPr sz="2000" b="1" i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&amp;</a:t>
            </a:r>
            <a:r>
              <a:rPr sz="2000" b="1" i="1" spc="-20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b="1" i="1" spc="-5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Suggestions!</a:t>
            </a:r>
            <a:endParaRPr sz="2000" b="1" dirty="0">
              <a:solidFill>
                <a:schemeClr val="accent5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526</Words>
  <Application>Microsoft Office PowerPoint</Application>
  <PresentationFormat>On-screen Show (4:3)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Presentation on</vt:lpstr>
      <vt:lpstr>PRESENTATION OVERVIEW</vt:lpstr>
      <vt:lpstr>INTRODUCTION</vt:lpstr>
      <vt:lpstr>OBJECTIVES</vt:lpstr>
      <vt:lpstr>LITERATURE REVIEW</vt:lpstr>
      <vt:lpstr>THEORETICAL STUDY (Existing Methods) </vt:lpstr>
      <vt:lpstr>PROPOSED METHODOLOGY </vt:lpstr>
      <vt:lpstr>RESULT DISCUSSION</vt:lpstr>
      <vt:lpstr>CONCLUSION &amp; FUTURE SCOPE</vt:lpstr>
      <vt:lpstr>REFERENCES</vt:lpstr>
      <vt:lpstr>THANK YOU ! Queries &amp; Suggestions!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on:</dc:title>
  <dc:creator>Online2PDF.com</dc:creator>
  <cp:lastModifiedBy>anushka.raut2006@hotmail.com</cp:lastModifiedBy>
  <cp:revision>18</cp:revision>
  <dcterms:created xsi:type="dcterms:W3CDTF">2021-07-19T05:22:42Z</dcterms:created>
  <dcterms:modified xsi:type="dcterms:W3CDTF">2026-03-15T18:51:35Z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2018-06-25T00:00:00Z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2021-07-19T00:00:00Z</vt:filetime>
  </property>
</Properties>
</file>